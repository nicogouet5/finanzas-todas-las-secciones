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6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Relationship Id="rId19" Type="http://schemas.openxmlformats.org/officeDocument/2006/relationships/slide" Target="slides/slide19.xml"/>
<Relationship Id="rId20" Type="http://schemas.openxmlformats.org/officeDocument/2006/relationships/slide" Target="slides/slide20.xml"/>
<Relationship Id="rId21" Type="http://schemas.openxmlformats.org/officeDocument/2006/relationships/slide" Target="slides/slide21.xml"/>
<Relationship Id="rId22" Type="http://schemas.openxmlformats.org/officeDocument/2006/relationships/slide" Target="slides/slide22.xml"/>
<Relationship Id="rId23" Type="http://schemas.openxmlformats.org/officeDocument/2006/relationships/slide" Target="slides/slide23.xml"/>
<Relationship Id="rId24" Type="http://schemas.openxmlformats.org/officeDocument/2006/relationships/slide" Target="slides/slide24.xml"/>
<Relationship Id="rId25" Type="http://schemas.openxmlformats.org/officeDocument/2006/relationships/slide" Target="slides/slide25.xml"/>
  <Relationship Id="rId26" Type="http://schemas.openxmlformats.org/officeDocument/2006/relationships/slideMaster" Target="slideMasters/slideMaster1.xml"/>
  <Relationship Id="rId27" Type="http://schemas.openxmlformats.org/officeDocument/2006/relationships/theme" Target="theme/theme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250000" y="0"/>
            <a:ext cx="500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00000" y="1600000"/>
            <a:ext cx="10500000" cy="20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3800" dirty="0" b="1">
                <a:solidFill>
                  <a:srgbClr val="FFFFFF"/>
                </a:solidFill>
              </a:rPr>
              <a:t>Planificación Financiera, Ciclo de Caja y FER</a:t>
            </a:r>
            <a:endParaRPr lang="es-CL" sz="3800"/>
          </a:p>
        </p:txBody>
      </p:sp>
      <p:sp>
        <p:nvSpPr>
          <p:cNvPr id="6" name="TextBox 6"/>
          <p:cNvSpPr txBox="1"/>
          <p:nvPr/>
        </p:nvSpPr>
        <p:spPr>
          <a:xfrm>
            <a:off x="800000" y="3700000"/>
            <a:ext cx="105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1800" dirty="0">
                <a:solidFill>
                  <a:srgbClr val="CBD5E1"/>
                </a:solidFill>
              </a:rPr>
              <a:t>Estructura conceptual y guía de resolución de ejercicios tipo certamen</a:t>
            </a:r>
            <a:endParaRPr lang="es-CL" sz="1800"/>
          </a:p>
        </p:txBody>
      </p:sp>
      <p:sp>
        <p:nvSpPr>
          <p:cNvPr id="7" name="Card 7"/>
          <p:cNvSpPr txBox="1"/>
          <p:nvPr/>
        </p:nvSpPr>
        <p:spPr>
          <a:xfrm>
            <a:off x="800000" y="4800000"/>
            <a:ext cx="5500000" cy="1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3B82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200" b="1">
                <a:solidFill>
                  <a:srgbClr val="FFFFFF"/>
                </a:solidFill>
              </a:rPr>
              <a:t>INFORMACIÓN GENERAL</a:t>
            </a:r>
            <a:endParaRPr lang="es-CL" sz="12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>
              <a:buNone/>
            </a:pPr>
            <a:r>
              <a:rPr lang="es-CL" sz="1300">
                <a:solidFill>
                  <a:srgbClr val="CBD5E1"/>
                </a:solidFill>
              </a:rPr>
              <a:t>Curso: Finanzas (UDD)</a:t>
            </a:r>
            <a:endParaRPr lang="es-CL" sz="1300"/>
          </a:p>
          <a:p>
            <a:pPr algn="l" lvl="0">
              <a:buNone/>
            </a:pPr>
            <a:r>
              <a:rPr lang="es-CL" sz="1300">
                <a:solidFill>
                  <a:srgbClr val="CBD5E1"/>
                </a:solidFill>
              </a:rPr>
              <a:t>Profesor: Francisco Labarca Trucios</a:t>
            </a:r>
            <a:endParaRPr lang="es-CL" sz="1300"/>
          </a:p>
          <a:p>
            <a:pPr algn="l" lvl="0">
              <a:buNone/>
            </a:pPr>
            <a:r>
              <a:rPr lang="es-CL" sz="1300">
                <a:solidFill>
                  <a:srgbClr val="CBD5E1"/>
                </a:solidFill>
              </a:rPr>
              <a:t>Ayudante: Nicolas Inostrosa Basualto</a:t>
            </a:r>
            <a:endParaRPr lang="es-CL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INTRODUCCIÓN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Hoja de ruta para hoy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800000"/>
            <a:ext cx="2573000" cy="42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3B82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01. CONCEPTOS BASE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Repaso de las principales fórmulas y conceptos: Capital de Trabajo, Ciclo de Caja, EOQ, Baumol, Miller-Orr y FER.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3423000" y="1800000"/>
            <a:ext cx="2573000" cy="42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02. COMENTES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Discusión conceptual de 3 ejercicios comentes tipo certamen para afinar la intuición económica.</a:t>
            </a:r>
            <a:endParaRPr lang="es-CL" sz="1400"/>
          </a:p>
        </p:txBody>
      </p:sp>
      <p:sp>
        <p:nvSpPr>
          <p:cNvPr id="9" name="Card 9"/>
          <p:cNvSpPr txBox="1"/>
          <p:nvPr/>
        </p:nvSpPr>
        <p:spPr>
          <a:xfrm>
            <a:off x="6196000" y="1800000"/>
            <a:ext cx="2573000" cy="42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3B82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03. EJERCICIOS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Resolución paso a paso de problemas prácticos sobre FER, EOQ y modelos de administración de caja.</a:t>
            </a:r>
            <a:endParaRPr lang="es-CL" sz="1400"/>
          </a:p>
        </p:txBody>
      </p:sp>
      <p:sp>
        <p:nvSpPr>
          <p:cNvPr id="10" name="Card 10"/>
          <p:cNvSpPr txBox="1"/>
          <p:nvPr/>
        </p:nvSpPr>
        <p:spPr>
          <a:xfrm>
            <a:off x="8969000" y="1800000"/>
            <a:ext cx="2573000" cy="42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10B981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04. CONCLUSIONES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Recomendaciones estratégicas sobre calce de plazos, optimización de cuentas por cobrar y financiamiento.</a:t>
            </a:r>
            <a:endParaRPr lang="es-CL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CONCEPTO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Capital de Trabajo Neto Operativo (CTNO)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EF4444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ADMINISTRACIÓN DE TRABAJO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El capital de trabajo mide los recursos que la empresa mantiene atados para financiar su operación diaria.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Activos Operativos (Atrapan Caja):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Inventarios (stock en bodega) y Cuentas por Cobrar (crédito a clientes).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Pasivos Espontáneos (Liberan Caja):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Cuentas por Pagar (financiamiento automático de proveedores) e Impuestos/Sueldos devengados.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Fórmula: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CTNO = Activos Operacionales - Pasivos Espontáneos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620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IMPACTO EN LA LIQUIDEZ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Acelerar ventas sin financiamiento: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Si las ventas crecen, los Activos Operativos aumentan de inmediato (más CxC y stock).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Rol de los proveedores: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Si los proveedores no aumentan su financiamiento proporcionalmente, se genera un déficit de efectivo.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✓ Regla de Oro: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El crecimiento comercial genera presión de liquidez que debe planificarse con anticipación.</a:t>
            </a:r>
            <a:endParaRPr lang="es-CL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CONCEPTO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Lógica temporal: El Ciclo de Caja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600000"/>
            <a:ext cx="10890000" cy="9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center"/>
            <a:r>
              <a:rPr lang="es-CL" sz="1600" b="1">
                <a:solidFill>
                  <a:srgbClr val="FFFFFF"/>
                </a:solidFill>
              </a:rPr>
              <a:t>FÓRMULA DEL CICLO DE CAJA</a:t>
            </a:r>
            <a:endParaRPr lang="es-CL" sz="1600"/>
          </a:p>
          <a:p>
            <a:pPr algn="center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center" lvl="0">
              <a:buNone/>
            </a:pPr>
            <a:r>
              <a:rPr lang="es-CL" sz="1400">
                <a:solidFill>
                  <a:srgbClr val="CBD5E1"/>
                </a:solidFill>
              </a:rPr>
              <a:t>Ciclo de Caja = Período Promedio Inventario (PPI) + Período Promedio Cobro (PPC) - Período Promedio Pago (PPP)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650000" y="2700000"/>
            <a:ext cx="3400000" cy="33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3B82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1. Inventario (PPI)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Período Promedio de Inventario (PPI):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Días que el stock pasa en bodega.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Fórmula: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Inventario / (Costo Ventas / 360)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A menor rotación, mayor es la caja atrapada en stock.</a:t>
            </a:r>
            <a:endParaRPr lang="es-CL" sz="1400"/>
          </a:p>
        </p:txBody>
      </p:sp>
      <p:sp>
        <p:nvSpPr>
          <p:cNvPr id="9" name="Card 9"/>
          <p:cNvSpPr txBox="1"/>
          <p:nvPr/>
        </p:nvSpPr>
        <p:spPr>
          <a:xfrm>
            <a:off x="4395000" y="2700000"/>
            <a:ext cx="3400000" cy="33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3B82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2. Cuentas por Cobrar (PPC)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Período Promedio de Cobro (PPC):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Días en que los clientes pagan.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Fórmula: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CxC / (Ventas / 360)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Plazos más amplios aumentan las necesidades de caja.</a:t>
            </a:r>
            <a:endParaRPr lang="es-CL" sz="1400"/>
          </a:p>
        </p:txBody>
      </p:sp>
      <p:sp>
        <p:nvSpPr>
          <p:cNvPr id="10" name="Card 10"/>
          <p:cNvSpPr txBox="1"/>
          <p:nvPr/>
        </p:nvSpPr>
        <p:spPr>
          <a:xfrm>
            <a:off x="8140000" y="2700000"/>
            <a:ext cx="3400000" cy="33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10B981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3. Cuentas por Pagar (PPP)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Período Promedio de Pago (PPP):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Plazo que nos otorgan proveedores.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Fórmula: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CxP / (Costo Ventas / 360)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Actúa como financiamiento directo y reduce el ciclo de caja.</a:t>
            </a:r>
            <a:endParaRPr lang="es-CL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CONCEPTO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Financiamiento Externo Requerido (FER)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600000"/>
            <a:ext cx="10890000" cy="9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center"/>
            <a:r>
              <a:rPr lang="es-CL" sz="1600" b="1">
                <a:solidFill>
                  <a:srgbClr val="FFFFFF"/>
                </a:solidFill>
              </a:rPr>
              <a:t>FÓRMULA PORCENTAJE DE VENTAS</a:t>
            </a:r>
            <a:endParaRPr lang="es-CL" sz="1600"/>
          </a:p>
          <a:p>
            <a:pPr algn="center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center" lvl="0">
              <a:buNone/>
            </a:pPr>
            <a:r>
              <a:rPr lang="es-CL" sz="1400">
                <a:solidFill>
                  <a:srgbClr val="CBD5E1"/>
                </a:solidFill>
              </a:rPr>
              <a:t>FER = (A*/V0) × ΔV  -  (P*/V0) × ΔV  -  [ m × V1 × (1 - d) ]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650000" y="2700000"/>
            <a:ext cx="3400000" cy="33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EF4444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1. Activos Requeridos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(A*/V0) × ΔV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A*: Activos que crecen de forma proporcional con las ventas (Caja, CxC, Inventarios).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Mide la inversión adicional requerida para soportar el nuevo nivel de actividad comercial.</a:t>
            </a:r>
            <a:endParaRPr lang="es-CL" sz="1400"/>
          </a:p>
        </p:txBody>
      </p:sp>
      <p:sp>
        <p:nvSpPr>
          <p:cNvPr id="9" name="Card 9"/>
          <p:cNvSpPr txBox="1"/>
          <p:nvPr/>
        </p:nvSpPr>
        <p:spPr>
          <a:xfrm>
            <a:off x="4395000" y="2700000"/>
            <a:ext cx="3400000" cy="33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10B981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2. Financiamiento Espontáneo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(P*/V0) × ΔV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P*: Pasivos espontáneos operacionales (proveedores, provisiones).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Mide la cantidad de crédito gratuito que nos conceden de forma automática nuestros proveedores.</a:t>
            </a:r>
            <a:endParaRPr lang="es-CL" sz="1400"/>
          </a:p>
        </p:txBody>
      </p:sp>
      <p:sp>
        <p:nvSpPr>
          <p:cNvPr id="10" name="Card 10"/>
          <p:cNvSpPr txBox="1"/>
          <p:nvPr/>
        </p:nvSpPr>
        <p:spPr>
          <a:xfrm>
            <a:off x="8140000" y="2700000"/>
            <a:ext cx="3400000" cy="33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3B82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3. Utilidades Retenidas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m × V1 × (1 - d)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m: Margen neto.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V1: Ventas del próximo año.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(1 - d): Tasa de retención de utilidades.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Mide las utilidades que no se reparten como dividendo y financian internamente.</a:t>
            </a:r>
            <a:endParaRPr lang="es-CL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CONCEPTO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Administración de Inventarios y Modelos de Caja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3B82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GESTIÓN DE STOCK: EOQ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Lote Económico de Compra (EOQ):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Determina el volumen óptimo de compra (Q*) que minimiza la suma de costos de ordenar y mantener stock.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Fórmula: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Q* = sqrt( (2 * D * S) / H 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(D: Demanda, S: Costo pedir, H: Costo mantener)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Punto de Reorden (ROP):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Nivel de inventario en el que se debe emitir un nuevo pedido para evitar quiebres de stock.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ROP = Demanda Diaria × Tiempo de Entrega (Lead Time)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620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ADMINISTRACIÓN DE CAJA (BAUMOL &amp; MILLER-ORR)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Modelo de Baumol: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Asume flujos de caja deterministas y predecibles.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C* = sqrt( (2 * T * F) / i 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Optimiza el saldo óptimo a liquidar de activos líquidos.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Modelo de Miller-Orr: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Para flujos aleatorios e impredecibles.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Calcula un límite inferior (mínimo operativo), un nivel de retorno óptimo (Z*) y un límite superior (H*).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Z* = ( (3 * F * σ^2) / (4 * r) )^(1/3) + L</a:t>
            </a:r>
            <a:endParaRPr lang="es-CL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CONCEPTO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Política de Crédito Comercial: Sartoris-Hill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3B82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MODELO DE CRÉDITO DIRECTO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El otorgamiento de crédito directo es una decisión de inversión que busca incrementar ventas, pero tiene costos asociados.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Modelo Sartoris-Hill: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Evalúa el impacto financiero total mediante el Valor Presente Neto (VPN) de los flujos de caja operacionales.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Ventajas del Crédito Directo: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Capturar ventas de clientes sin acceso a crédito bancario.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Flexibilidad y fidelización.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Ventajas de información o transacción sobre bancos.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620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10B981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EVALUACIÓN MEDIANTE VPN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Variables críticas del modelo: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1. Crecimiento de Ventas (volumen incremental)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2. Margen de ganancia o Costo variable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3. Período de cobro (días de financiamiento)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4. Incobrabilidad (pérdidas de crédito)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5. Descuento por pronto pago y su tasa de aceptación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6. Tasa de interés diaria (costo de oportunidad)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✓ Regla: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Aceptar la nueva política si el VPN_nueva &gt; VPN_actual.</a:t>
            </a:r>
            <a:endParaRPr lang="es-CL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2800000"/>
            <a:ext cx="12192000" cy="1200000"/>
          </a:xfrm>
          <a:prstGeom prst="rect">
            <a:avLst/>
          </a:prstGeom>
          <a:solidFill>
            <a:srgbClr val="151E2E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0" y="2800000"/>
            <a:ext cx="12192000" cy="6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0" y="3940000"/>
            <a:ext cx="12192000" cy="6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50000" y="3000000"/>
            <a:ext cx="1089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enter" lvl="0">
              <a:buNone/>
            </a:pPr>
            <a:r>
              <a:rPr lang="es-CL" sz="3200" dirty="0" b="1">
                <a:solidFill>
                  <a:srgbClr val="FFFFFF"/>
                </a:solidFill>
              </a:rPr>
              <a:t>SECCIÓN 1: COMENTES CONCEPTUALES</a:t>
            </a:r>
            <a:endParaRPr lang="es-CL" sz="3200"/>
          </a:p>
        </p:txBody>
      </p:sp>
      <p:sp>
        <p:nvSpPr>
          <p:cNvPr id="7" name="TextBox 7"/>
          <p:cNvSpPr txBox="1"/>
          <p:nvPr/>
        </p:nvSpPr>
        <p:spPr>
          <a:xfrm>
            <a:off x="650000" y="4200000"/>
            <a:ext cx="1089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enter" lvl="0">
              <a:buNone/>
            </a:pPr>
            <a:r>
              <a:rPr lang="es-CL" sz="1800" dirty="0">
                <a:solidFill>
                  <a:srgbClr val="00D8F6"/>
                </a:solidFill>
              </a:rPr>
              <a:t>Discusión y pautas de preguntas conceptuales tipo certamen</a:t>
            </a:r>
            <a:endParaRPr lang="es-CL" sz="1800"/>
          </a:p>
        </p:txBody>
      </p:sp>
      <p:sp>
        <p:nvSpPr>
          <p:cNvPr id="8" name="TextBox 8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COMENTES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Comente 1: Ciclo de caja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1500000" y="2000000"/>
            <a:ext cx="9192000" cy="30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center"/>
            <a:r>
              <a:rPr lang="es-CL" sz="1600" b="1">
                <a:solidFill>
                  <a:srgbClr val="FFFFFF"/>
                </a:solidFill>
              </a:rPr>
              <a:t>PREGUNTA 1</a:t>
            </a:r>
            <a:endParaRPr lang="es-CL" sz="1600"/>
          </a:p>
          <a:p>
            <a:pPr algn="center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center" lvl="0">
              <a:buNone/>
            </a:pPr>
            <a:r>
              <a:rPr lang="es-CL" sz="1400">
                <a:solidFill>
                  <a:srgbClr val="CBD5E1"/>
                </a:solidFill>
              </a:rPr>
              <a:t>Defina el ciclo de caja y explique cómo afecta la gestión del capital de trabajo.</a:t>
            </a:r>
            <a:endParaRPr lang="es-CL" sz="1400"/>
          </a:p>
          <a:p>
            <a:pPr algn="center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center" lvl="0">
              <a:buNone/>
            </a:pPr>
            <a:r>
              <a:rPr lang="es-CL" sz="1400">
                <a:solidFill>
                  <a:srgbClr val="CBD5E1"/>
                </a:solidFill>
              </a:rPr>
              <a:t>¿Qué efecto tendría una reducción en el plazo promedio de cuentas por pagar?</a:t>
            </a:r>
            <a:endParaRPr lang="es-CL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SOLUCIONES COMENTES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Comente 1: Pauta y Justificación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10B981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DEFINICIÓN E IMPACTO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Definición del Ciclo de Caja: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Es el tiempo promedio que transcurre desde que la empresa paga por adquirir materias primas/inventarios hasta que recauda el efectivo de las ventas.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Ciclo de Caja = PPI + PPC - PPP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Impacto en Capital de Trabajo: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Un ciclo de caja más largo incrementa el capital de trabajo neto requerido (atrapa liquidez).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Un ciclo más corto disminuye esta necesidad de fondos, mejorando la liquidez inmediata.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620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000">
            <a:solidFill>
              <a:srgbClr val="EF4444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REDUCCIÓN PLAZO PROVEEDORES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Reducción del plazo de Cuentas por Pagar (PPP baja):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Significa pagar antes a los proveedores.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Al restar un término menor, el Ciclo de Caja TOTAL aumenta.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Consecuencias: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Exige a la empresa contar con más recursos propios o externos en el corto plazo.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Puede generar tensiones de caja (presión financiera) si no es compensada con mejoras en los días de inventario o cobranza.</a:t>
            </a:r>
            <a:endParaRPr lang="es-CL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COMENTES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Comente 2: Política de crédito comercial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1500000" y="2000000"/>
            <a:ext cx="9192000" cy="30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center"/>
            <a:r>
              <a:rPr lang="es-CL" sz="1600" b="1">
                <a:solidFill>
                  <a:srgbClr val="FFFFFF"/>
                </a:solidFill>
              </a:rPr>
              <a:t>PREGUNTA 2</a:t>
            </a:r>
            <a:endParaRPr lang="es-CL" sz="1600"/>
          </a:p>
          <a:p>
            <a:pPr algn="center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center" lvl="0">
              <a:buNone/>
            </a:pPr>
            <a:r>
              <a:rPr lang="es-CL" sz="1400">
                <a:solidFill>
                  <a:srgbClr val="CBD5E1"/>
                </a:solidFill>
              </a:rPr>
              <a:t>Mencione tres factores que una empresa debe considerar al definir su política de crédito.</a:t>
            </a:r>
            <a:endParaRPr lang="es-CL" sz="1400"/>
          </a:p>
          <a:p>
            <a:pPr algn="center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center" lvl="0">
              <a:buNone/>
            </a:pPr>
            <a:r>
              <a:rPr lang="es-CL" sz="1400">
                <a:solidFill>
                  <a:srgbClr val="CBD5E1"/>
                </a:solidFill>
              </a:rPr>
              <a:t>¿Por qué algunas empresas prefieren otorgar crédito directamente en lugar de derivar al cliente a una institución financiera?</a:t>
            </a:r>
            <a:endParaRPr lang="es-CL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SOLUCIONES COMENTES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Comente 2: Pauta y Justificación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10B981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FACTORES DE LA POLÍTICA DE CRÉDITO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1. Capacidad de pago del cliente: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Evaluación y scoring de riesgo del deudor para evitar un nivel desmedido de incobrabilidad.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2. Condiciones comerciales ofrecidas: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Determinación de plazos (ej. 30, 60 días), tasas de interés implícitas y descuentos por pronto pago.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3. Costos de administración y cobro: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Gastos operativos de la oficina de cobranza, comisiones y costos de recuperación judicial.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620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RAZONES DEL CRÉDITO DIRECTO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Incremento de ventas y fidelización: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Permite capturar clientes que no tienen acceso a financiamiento bancario formal.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Flexibilidad comercial: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La empresa puede negociar de forma directa condiciones específicas y fechas clave.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Ventaja en mercados imperfectos: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La empresa suele tener menores costos de transacción y mejor información sobre la conducta del cliente que el propio banco comercial.</a:t>
            </a:r>
            <a:endParaRPr lang="es-CL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COMENTES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Comente 3: Plazos de activos y pasivos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1500000" y="2000000"/>
            <a:ext cx="9192000" cy="30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center"/>
            <a:r>
              <a:rPr lang="es-CL" sz="1600" b="1">
                <a:solidFill>
                  <a:srgbClr val="FFFFFF"/>
                </a:solidFill>
              </a:rPr>
              <a:t>PREGUNTA 3</a:t>
            </a:r>
            <a:endParaRPr lang="es-CL" sz="1600"/>
          </a:p>
          <a:p>
            <a:pPr algn="center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center" lvl="0">
              <a:buNone/>
            </a:pPr>
            <a:r>
              <a:rPr lang="es-CL" sz="1400">
                <a:solidFill>
                  <a:srgbClr val="CBD5E1"/>
                </a:solidFill>
              </a:rPr>
              <a:t>"Siempre será recomendable financiar activos de largo plazo, con pasivos de corto plazo."</a:t>
            </a:r>
            <a:endParaRPr lang="es-CL" sz="1400"/>
          </a:p>
          <a:p>
            <a:pPr algn="center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center" lvl="0">
              <a:buNone/>
            </a:pPr>
            <a:r>
              <a:rPr lang="es-CL" sz="1400">
                <a:solidFill>
                  <a:srgbClr val="CBD5E1"/>
                </a:solidFill>
              </a:rPr>
              <a:t>Indique si la afirmación es Verdadera, Falsa o Depende y justifique.</a:t>
            </a:r>
            <a:endParaRPr lang="es-CL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SOLUCIONES COMENTES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Comente 3: Pauta y Justificación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1500000" y="1800000"/>
            <a:ext cx="9192000" cy="38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EF4444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FALSO - PRINCIPIO DE CONFORMIDAD FINANCIERA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Calce de Temporalidad: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Las empresas deben adecuar el vencimiento de sus fuentes de financiamiento al plazo de maduración de sus inversiones.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Riesgo del Descalce Financiero: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Financiar activos de largo plazo (maquinarias, infraestructura) con deudas de corto plazo expone a la empresa a riesgos de refinanciamiento (renovar deudas a tasas más altas) y asfixia por iliquidez.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✓ Conclusión: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Los activos fijos deben estructurarse con financiamiento de largo plazo (deuda a largo plazo o patrimonio), permitiendo que la inversión genere sus retornos antes de que expire la obligación.</a:t>
            </a:r>
            <a:endParaRPr lang="es-CL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2800000"/>
            <a:ext cx="12192000" cy="1200000"/>
          </a:xfrm>
          <a:prstGeom prst="rect">
            <a:avLst/>
          </a:prstGeom>
          <a:solidFill>
            <a:srgbClr val="151E2E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0" y="2800000"/>
            <a:ext cx="12192000" cy="6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0" y="3940000"/>
            <a:ext cx="12192000" cy="6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50000" y="3000000"/>
            <a:ext cx="1089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enter" lvl="0">
              <a:buNone/>
            </a:pPr>
            <a:r>
              <a:rPr lang="es-CL" sz="3200" dirty="0" b="1">
                <a:solidFill>
                  <a:srgbClr val="FFFFFF"/>
                </a:solidFill>
              </a:rPr>
              <a:t>SECCIÓN 2: EJERCICIOS PRÁCTICOS</a:t>
            </a:r>
            <a:endParaRPr lang="es-CL" sz="3200"/>
          </a:p>
        </p:txBody>
      </p:sp>
      <p:sp>
        <p:nvSpPr>
          <p:cNvPr id="7" name="TextBox 7"/>
          <p:cNvSpPr txBox="1"/>
          <p:nvPr/>
        </p:nvSpPr>
        <p:spPr>
          <a:xfrm>
            <a:off x="650000" y="4200000"/>
            <a:ext cx="1089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enter" lvl="0">
              <a:buNone/>
            </a:pPr>
            <a:r>
              <a:rPr lang="es-CL" sz="1800" dirty="0">
                <a:solidFill>
                  <a:srgbClr val="00D8F6"/>
                </a:solidFill>
              </a:rPr>
              <a:t>Resolución matemática y de análisis de casos reales</a:t>
            </a:r>
            <a:endParaRPr lang="es-CL" sz="1800"/>
          </a:p>
        </p:txBody>
      </p:sp>
      <p:sp>
        <p:nvSpPr>
          <p:cNvPr id="8" name="TextBox 8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EJERCICIOS FER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Ejercicio 1: FER (TrendGo S.A.)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3B82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TRENDGO S.A. (E-COMMERCE)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TrendGo S.A. es un e-commerce especializado en ropa de diseñadores independientes.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DATOS OPERATIVOS AÑO 2024: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Ventas anuales (V0): $180.000.000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Período promedio de cobranza: 40 días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Margen neto (m): 6% | Payout (d): 60%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ÍTEMS VARIABLES CON LAS VENTAS: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Efectivo: 3% | Inventarios: 20%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Proveedores (CxP): 6% | Pasivos espontáneos: 3%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Cuentas por Cobrar base (CxC): 10%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PLAN DE EXPANSIÓN 2025: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Ventas aumentan 20% (ΔV = $36.000.000).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El crecimiento se concentra en productos de verano importados, que exigen plazos de cobranza de 60 días.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620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SE PIDE: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A. Calcule el Financiamiento Externo Requerido (FER) para 2025 asociado al crecimiento proyectado.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(Considere año comercial de 360 días).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B. Suponga que toda la cartera de clientes pasa a tener un plazo de cobranza de 60 días (incluyendo las ventas actuales del año base). Calcule el nuevo FER incremental asociado a esta decisión de crédito.</a:t>
            </a:r>
            <a:endParaRPr lang="es-CL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SOLUCIONES FER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Solución Ejercicio 1: FER (TrendGo S.A.)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10B981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PARTE A: CÁLCULO DEL FER 2025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Ventas Nuevas (ΔV) = $36.000.000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Ventas Proyectadas (V1) = $216.000.000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CxC Nuevas a 60 días: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Rotación = 360/60 = 6 veces al año.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CxC Nuevas = $36.000.000 / 6 = $6.000.000.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% CxC nuevas sobre ΔV = $6.000.000 / $36.000.000 = 16,66%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Activos Requeridos Nuevos (A*/V0):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Efectivo (3%) + Inventarios (20%) + CxC nuevas (16,66%) = 39,66%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Pasivos Espontáneos Nuevos (P*/V0):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CxP (6%) + Pasivos espontáneos (3%) = 9,0%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Utilidades Retenidas Proyectadas: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$216.000.000 (V1) × 6% (m) × (1 - 0,60) = $5.184.000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FER = (39,66% × $36M) - (9,0% × $36M) - $5.184.000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= $14.277.600 - $3.240.000 - $5.184.000 = $5.853.600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620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PARTE B: ANÁLISIS DE LA CARTERA TOTAL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Inversión en CxC con plazo de 40 días: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$180.000.000 × (40/360) = $20.000.000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Inversión en CxC con plazo de 60 días: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$180.000.000 × (60/360) = $30.000.000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Incremento Neto en Activos (atrapa caja):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$30.000.000 - $20.000.000 = $10.000.000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✓ FER Adicional = $10.000.000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Conclusión: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Aumentar el plazo de crédito a toda la cartera inmoviliza $10M adicionales de capital de trabajo, los cuales deben financiarse directamente por vía externa, sumándose al FER calculado en A.</a:t>
            </a:r>
            <a:endParaRPr lang="es-CL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EJERCICIOS INVENTARIO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Ejercicio 2: Inventario (FerreMax Ltda.)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3B82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FERREMAX LTDA.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FerreMax Ltda. comercializa taladros eléctricos importados.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DATOS OPERACIONALES: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Demanda mensual promedio: 40 unidades.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Precio de venta unitario: $250.000.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Margen de ganancia: 40% sobre el precio de venta.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(Costo de adquisición = 60% de PV = $150.000).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COSTOS LOGÍSTICOS: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Costo de emisión de pedido (S): $2.000 por orden.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Costo anual de mantener inventario (H):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5% del valor de adquisición del producto.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Tiempo de entrega (Lead Time): 10 días.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Calendario comercial: 360 días al año.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620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SE PIDE: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A. Calcule la Cantidad Económica de Pedido (EOQ - Q*) y determine cuántas órdenes se deben realizar al año.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B. Calcule el Punto de Reorden (ROP) que evite quiebres de inventario.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C. Explique de forma conceptual el impacto de ordenar antes o después del punto de reorden en los costos logísticos y en la rentabilidad del negocio.</a:t>
            </a:r>
            <a:endParaRPr lang="es-CL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SOLUCIONES INVENTARIO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Solución Ejercicio 2: Inventario (FerreMax)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10B981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A. LOTE ECONÓMICO Y NÚMERO DE PEDIDOS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Demanda Anual (D) = 40 × 12 = 480 unidades.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Costo de adquisición unitario = $150.000.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Costo unitario de mantenimiento (H):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5% × $150.000 = $7.500 por unidad/año.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Costo de ordenar (S) = $2.000.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Q* = sqrt( (2 × D × S) / H 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Q* = sqrt( (2 × 480 × $2.000) / $7.500 )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Q* = sqrt( 1.920.000 / 7.500 ) = sqrt(256)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Q* = 16 unidades por pedido.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Número de pedidos al año: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N = D / Q* = 480 / 16 = 30 pedidos al año.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620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B Y C. PUNTO DE REORDEN Y ANÁLISIS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Demanda Diaria (d):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480 unidades / 360 días = 1,33 unidades/día.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Lead Time (L) = 10 días.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Punto de Reorden (ROP):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ROP = 1,33 unidades/día × 10 días = 13,3 unidades.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✓ ROP ≈ 13 unidades en stock.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Análisis conceptual: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Pedir antes (con más de 13 unidades): Genera sobrestock innecesario, aumentando el costo de mantenimiento de inventario (H).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Pedir después (con menos de 13 unidades): Provoca quiebre de stock, impidiendo realizar ventas y afectando la rentabilidad y fidelización.</a:t>
            </a:r>
            <a:endParaRPr lang="es-CL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EJERCICIOS CRÉDITO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Ejercicio 3: Política de Crédito (Sartoris-Hill)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3B82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SARTORIS - HILL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Una empresa vende $120.000.000 anuales a un costo total de $108.000.000 (margen del 10%). Ventas actuales 100% en efectivo.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Se evalúa otorgar crédito directo, analizando dos consultores: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CONSULTOR 1: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Ventas aumentan en 300% ($480M total).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- 80% crédito a 30 días, 20% al contado.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Estimación de incobrabilidad: 13% sobre ventas a crédito.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CONSULTOR 2: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Ventas aumentan en 200% ($360M total).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- 80% pagará a 30 días, con incobrabilidad del 4%.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- 20% pagará a 15 días con 5% de descuento por pronto pago (sin incobrabilidad).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✓ Tasa de interés diaria: 0,09%. Margen: 10%.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620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SE PIDE: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A. Calcule el VPN del escenario actual (base) sin otorgar crédito directo.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B. Calcule el VPN asociado al escenario del Consultor 1.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C. Calcule el VPN asociado al escenario del Consultor 2.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D. Determine cuál política es la mejor opción para la empresa y explique los riesgos clave de la decisión.</a:t>
            </a:r>
            <a:endParaRPr lang="es-CL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SOLUCIONES CRÉDITO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Solución Ejercicio 3: Sartoris-Hill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EF4444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BASE Y ESCENARIO 1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Escenario Base (100% Contado):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V = $120.000.000 | Costos = $108.000.000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VPN = $120M - $108M = $12.000.000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Consultor 1 (Ventas $480M, Costos $432M):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Ventas Contado (20%): $96.000.000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Ventas Crédito (80%): $384.000.000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Incobrabilidad (13%): $49.920.000 (Neto = $334.080.000)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VP Crédito (30 días, k = 0,09%):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  $334.080.000 / (1,0009)^30 = $325.183.932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VPN = $96M + $325.183.932 - $432M = -$10.816.068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620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000">
            <a:solidFill>
              <a:srgbClr val="10B981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ESCENARIO 2 Y COMPARACIÓN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Consultor 2 (Ventas $360M, Costos $324M):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Crédito 30 días (80%): $288.000.000 (Incobrable 4%)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  VP = [ $288M × (1 - 0,04) ] / (1,0009)^30 = $269.117.778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Descuento 15 días (20%): $72.000.000 (Descuento 5%)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  VP = [ $72M × (1 - 0,05) ] / (1,0009)^15 = $67.482.999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VPN = $269.117.778 + $67.482.999 - $324M = $12.600.777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✓ Decisión y Análisis: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Si interpretamos crecimiento 'sobre el base':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  El Consultor 2 es el mejor (VPN de $12.600.777 &gt; $12.000.000).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Si interpretamos crecimiento 'absoluto' (Ventas a $360M y $240M):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  El mejor es el Escenario Base ($12M), pues el Consultor 2 da $8,40M. ¡Dar crédito no siempre conviene!</a:t>
            </a:r>
            <a:endParaRPr lang="es-CL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EJERCICIOS CAJA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Ejercicio 4: Planificación de Caja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3B82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DISTRIBUCIONES PACÍFICO LTDA.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Distribuciones Pacífico Ltda. abastece a minoristas y requiere programar su caja para el año.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DATOS OPERACIONALES: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Necesidad de efectivo anual (T): $180.000.000.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Costo de transacción de activos (F): $20.000 por orden.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Saldo mínimo de efectivo (L): $5.000.000.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Volatilidad diaria (desviación estándar σ): $3.100.000.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Tasa de interés anual (i): 5,5% (para Baumol).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Tasa de interés diaria (r): 0,015% (para Miller-Orr).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620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SE PIDE: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A. Utilizando el Modelo de Baumol, determine el saldo óptimo de efectivo (C*) y calcule el costo anual de mantenimiento e intermediación.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B. Utilizando el Modelo de Miller-Orr, determine el saldo óptimo de efectivo o nivel de retorno (Z*), el límite superior de efectivo (H*) y elabore el esquema de control.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C. Explique las diferencias en supuestos de ambos modelos.</a:t>
            </a:r>
            <a:endParaRPr lang="es-CL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SOLUCIONES CAJA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Solución Ejercicio 4: Modelo de Baumol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10B981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CÁLCULO DEL SALDO ÓPTIMO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Supuesto clave: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Flujos de efectivo predecibles y constantes.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Saldo Óptimo de Efectivo (C*):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C* = sqrt( (2 × T × F) / i 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C* = sqrt( (2 × $180M × $20.000) / 0,055 )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C* = sqrt( 7.200.000.000.000 / 0,055 )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C* = sqrt( 130.909.090.909.091 )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✓ C* = $11.441.551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620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ANÁLISIS DE COSTOS ANUALES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Costo Anual de Mantener Efectivo: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Costo_Mantener = (C* / 2) × i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= ($11.441.551 / 2) × 0,055 = $314.643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Costo Anual de Transacción: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Costo_Transacción = (T / C*) × F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= ($180.000.000 / $11.441.551) × $20.000 = $314.643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✓ Costo Total Anual = $629.286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(La igualdad de ambos costos confirma que la solución es el mínimo de la curva de costos).</a:t>
            </a:r>
            <a:endParaRPr lang="es-CL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SOLUCIONES CAJA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Solución Ejercicio 4: Modelo de Miller-Orr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10B981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CÁLCULO DE NIVELES (Z* Y H*)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Saldo Óptimo / Retorno (Z*):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Z* = [ (3 × F × σ^2) / (4 × r) ]^(1/3) + L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σ^2 = ($3.100.000)^2 = 9.610.000.000.000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3 × F × σ^2 = 3 × $20.000 × 9,61×10^12 = 5,766×10^17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4 × r = 4 × 0,00015 = 0,0006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Z* - L = [ 5,766×10^17 / 0,0006 ]^(1/3) = 9.868.272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Z* = 9.868.272 + 5.000.000 = $14.868.272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Límite Superior de Efectivo (H*):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H* = 3 × Z* - 2 × L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H* = 3 × (Z* - L) + L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H* = 3 × 9.868.272 + 5.000.000 = $34.604.817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6200000" y="1600000"/>
            <a:ext cx="5200000" cy="44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DINÁMICA DE CONTROL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Límite Inferior (L) = $5.000.000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Punto de Retorno (Z*) = $14.868.272</a:t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Límite Superior (H*) = $34.604.817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Reglas de Decisión: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Si la caja sube a H* ($34.60M), se compra stock de corto plazo por valor H* - Z* = $19.736.545, regresando a Z*.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- Si la caja baja a L ($5M), se vende stock por valor Z* - L = $9.868.272, regresando a Z*.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/>
            </a:r>
            <a:endParaRPr lang="es-CL" sz="1400"/>
          </a:p>
          <a:p>
            <a:pPr algn="l" lvl="0" marL="342900" indent="-171450">
              <a:buChar char="•"/>
            </a:pPr>
            <a:r>
              <a:rPr lang="es-CL" sz="1400">
                <a:solidFill>
                  <a:srgbClr val="CBD5E1"/>
                </a:solidFill>
              </a:rPr>
              <a:t>Contraste Baumol vs Miller-Orr:</a:t>
            </a:r>
            <a:endParaRPr lang="es-CL" sz="14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  Baumol asume egresos fijos y predecibles (caja como inventario). Miller-Orr asume que el efectivo sigue un camino aleatorio diario.</a:t>
            </a:r>
            <a:endParaRPr lang="es-CL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0D8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0000" y="25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900" dirty="0" b="1">
                <a:solidFill>
                  <a:srgbClr val="00D8F6"/>
                </a:solidFill>
              </a:rPr>
              <a:t>CIERRE</a:t>
            </a:r>
            <a:endParaRPr lang="es-CL" sz="900"/>
          </a:p>
        </p:txBody>
      </p:sp>
      <p:sp>
        <p:nvSpPr>
          <p:cNvPr id="5" name="TextBox 5"/>
          <p:cNvSpPr txBox="1"/>
          <p:nvPr/>
        </p:nvSpPr>
        <p:spPr>
          <a:xfrm>
            <a:off x="650000" y="4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lvl="0">
              <a:buNone/>
            </a:pPr>
            <a:r>
              <a:rPr lang="es-CL" sz="2800" dirty="0" b="1">
                <a:solidFill>
                  <a:srgbClr val="FFFFFF"/>
                </a:solidFill>
              </a:rPr>
              <a:t>Conclusiones clave para el Certamen</a:t>
            </a:r>
            <a:endParaRPr lang="es-CL" sz="2800"/>
          </a:p>
        </p:txBody>
      </p:sp>
      <p:sp>
        <p:nvSpPr>
          <p:cNvPr id="6" name="TextBox 6"/>
          <p:cNvSpPr txBox="1"/>
          <p:nvPr/>
        </p:nvSpPr>
        <p:spPr>
          <a:xfrm>
            <a:off x="650000" y="6400000"/>
            <a:ext cx="1089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lvl="0">
              <a:buNone/>
            </a:pPr>
            <a:r>
              <a:rPr lang="es-CL" sz="900" dirty="0">
                <a:solidFill>
                  <a:srgbClr val="475569"/>
                </a:solidFill>
              </a:rPr>
              <a:t>Ayudantía Finanzas UDD | Nicolas Inostrosa</a:t>
            </a:r>
            <a:endParaRPr lang="es-CL" sz="900"/>
          </a:p>
        </p:txBody>
      </p:sp>
      <p:sp>
        <p:nvSpPr>
          <p:cNvPr id="7" name="Card 7"/>
          <p:cNvSpPr txBox="1"/>
          <p:nvPr/>
        </p:nvSpPr>
        <p:spPr>
          <a:xfrm>
            <a:off x="650000" y="1800000"/>
            <a:ext cx="3400000" cy="29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EF4444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1. CALCE DE PLAZOS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No basta con estimar las necesidades de financiamiento. Es vital calzar los vencimientos de la deuda con los plazos de realización de los activos.</a:t>
            </a:r>
            <a:endParaRPr lang="es-CL" sz="1400"/>
          </a:p>
        </p:txBody>
      </p:sp>
      <p:sp>
        <p:nvSpPr>
          <p:cNvPr id="8" name="Card 8"/>
          <p:cNvSpPr txBox="1"/>
          <p:nvPr/>
        </p:nvSpPr>
        <p:spPr>
          <a:xfrm>
            <a:off x="4395000" y="1800000"/>
            <a:ext cx="3400000" cy="29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10B981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2. EVALUACIÓN DE CRÉDITO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Las cuentas por cobrar son inversiones comerciales. Dar crédito impulsa ventas, pero inmoviliza caja y genera costos de incobrabilidad.</a:t>
            </a:r>
            <a:endParaRPr lang="es-CL" sz="1400"/>
          </a:p>
        </p:txBody>
      </p:sp>
      <p:sp>
        <p:nvSpPr>
          <p:cNvPr id="9" name="Card 9"/>
          <p:cNvSpPr txBox="1"/>
          <p:nvPr/>
        </p:nvSpPr>
        <p:spPr>
          <a:xfrm>
            <a:off x="8140000" y="1800000"/>
            <a:ext cx="3400000" cy="290000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000">
            <a:solidFill>
              <a:srgbClr val="3B82F6"/>
            </a:solidFill>
          </a:ln>
        </p:spPr>
        <p:txBody>
          <a:bodyPr wrap="square" anchor="t" lIns="182880" tIns="182880" rIns="182880" bIns="182880"/>
          <a:lstStyle/>
          <a:p>
            <a:pPr algn="l"/>
            <a:r>
              <a:rPr lang="es-CL" sz="1600" b="1">
                <a:solidFill>
                  <a:srgbClr val="FFFFFF"/>
                </a:solidFill>
              </a:rPr>
              <a:t>3. OPTIMIZACIÓN DE CAJA</a:t>
            </a:r>
            <a:endParaRPr lang="es-CL" sz="1600"/>
          </a:p>
          <a:p>
            <a:pPr algn="l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l" lvl="0">
              <a:buNone/>
            </a:pPr>
            <a:r>
              <a:rPr lang="es-CL" sz="1400">
                <a:solidFill>
                  <a:srgbClr val="CBD5E1"/>
                </a:solidFill>
              </a:rPr>
              <a:t>Modelos como Baumol y Miller-Orr nos permiten sistematizar las decisiones de tesorería y minimizar el costo total de la caja.</a:t>
            </a:r>
            <a:endParaRPr lang="es-CL" sz="1400"/>
          </a:p>
        </p:txBody>
      </p:sp>
      <p:sp>
        <p:nvSpPr>
          <p:cNvPr id="10" name="Card 10"/>
          <p:cNvSpPr txBox="1"/>
          <p:nvPr/>
        </p:nvSpPr>
        <p:spPr>
          <a:xfrm>
            <a:off x="650000" y="4900000"/>
            <a:ext cx="10890000" cy="11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000">
            <a:solidFill>
              <a:srgbClr val="00D8F6"/>
            </a:solidFill>
          </a:ln>
        </p:spPr>
        <p:txBody>
          <a:bodyPr wrap="square" anchor="t" lIns="182880" tIns="182880" rIns="182880" bIns="182880"/>
          <a:lstStyle/>
          <a:p>
            <a:pPr algn="center"/>
            <a:r>
              <a:rPr lang="es-CL" sz="1600" b="1">
                <a:solidFill>
                  <a:srgbClr val="FFFFFF"/>
                </a:solidFill>
              </a:rPr>
              <a:t>PREGUNTA DE REFLEXIÓN FINAL</a:t>
            </a:r>
            <a:endParaRPr lang="es-CL" sz="1600"/>
          </a:p>
          <a:p>
            <a:pPr algn="center"/>
            <a:r>
              <a:rPr lang="es-CL" sz="600">
                <a:solidFill>
                  <a:srgbClr val="CBD5E1"/>
                </a:solidFill>
              </a:rPr>
              <a:t/>
            </a:r>
            <a:endParaRPr lang="es-CL" sz="600"/>
          </a:p>
          <a:p>
            <a:pPr algn="center" lvl="0">
              <a:buNone/>
            </a:pPr>
            <a:r>
              <a:rPr lang="es-CL" sz="1400">
                <a:solidFill>
                  <a:srgbClr val="CBD5E1"/>
                </a:solidFill>
              </a:rPr>
              <a:t>¿Cuál de las variables del FER (Margen Neto, Crecimiento o Política de Dividendos) es más fácil de gestionar en la práctica para un directivo?</a:t>
            </a:r>
            <a:endParaRPr lang="es-CL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anzas UDD">
  <a:themeElements>
    <a:clrScheme name="Finanzas">
      <a:dk1>
        <a:srgbClr val="090D16"/>
      </a:dk1>
      <a:lt1>
        <a:srgbClr val="F8FAFC"/>
      </a:lt1>
      <a:dk2>
        <a:srgbClr val="1E293B"/>
      </a:dk2>
      <a:lt2>
        <a:srgbClr val="00D8F6"/>
      </a:lt2>
      <a:accent1>
        <a:srgbClr val="3B82F6"/>
      </a:accent1>
      <a:accent2>
        <a:srgbClr val="10B981"/>
      </a:accent2>
      <a:accent3>
        <a:srgbClr val="F59E0B"/>
      </a:accent3>
      <a:accent4>
        <a:srgbClr val="EF4444"/>
      </a:accent4>
      <a:accent5>
        <a:srgbClr val="475569"/>
      </a:accent5>
      <a:accent6>
        <a:srgbClr val="16A34A"/>
      </a:accent6>
      <a:hlink>
        <a:srgbClr val="00D8F6"/>
      </a:hlink>
      <a:folHlink>
        <a:srgbClr val="3B82F6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25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Planificación financiera, ciclo de caja y FER</dc:title>
  <dc:creator>Nicolas Inostrosa Basualto</dc:creator>
  <cp:lastModifiedBy>Codex</cp:lastModifiedBy>
</cp:coreProperties>
</file>